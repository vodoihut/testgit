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3EF-FADC-683B-F3E1-2155598AA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69F24-ECED-6F39-F8C3-54BFADB2F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3A69-4E09-B7F6-CD1E-20734611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3E122-1603-4164-3734-27493D97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03322-DF2A-FF34-20B2-67942628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2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93D2-F756-3353-5761-2F93B397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F6480-C8CA-64C4-1E20-B44A96D15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EF337-A9CB-6712-7861-210B9FE1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90CBC-F6EE-4854-19DB-77D619DC8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8E3C3-DA98-ED87-59DA-CEFC80A9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7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6A18-B1C5-46BF-381D-0F8EB2C1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595A9-B9AD-512E-7208-56298D8F7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0A1B-60CE-E336-257A-B8AC981F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E7F2B-AC51-7610-5820-A2871D5D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EF7B5-085B-66DB-30AA-62334B49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D865-A93C-5701-FEC7-DBB5DD25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4685F-34CF-C11E-714E-38D5E0162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1DC5F-4C70-8734-F252-0B10F387C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58CB-F969-D186-775E-69130D1F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5997-52AA-92E7-CC0E-BC85CDA5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ADE86-C07E-AF3A-AE16-A8BF2D81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0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351C-81B7-E0DA-5A45-7BE7778C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D4501-C49F-9F44-209C-766F86E17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E9A83-F9C9-BC24-A5F5-D4E49C14E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F2601-38D2-48E2-EE97-5181368C5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A8B2F-5D5C-BF00-10A3-BD4A7D7FA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BC35F-5123-B04F-73A9-613B40E6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D04FD-0F17-2509-C3E2-4D4E7A5A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F8C644-3AC6-27B6-C0D9-E6B0E5CD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3C61-C807-906B-50D4-5D163073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FCF4D-8F60-B22F-AAF0-9EC2725B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9C9B0-3E27-5E90-13E9-DCF9712A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47432-E031-26C4-970F-FE98E3D1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9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677C3-329D-9CDC-7BA3-7368DCD2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D6580-D50D-CF4D-05B8-E172D776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4E26-FB80-6236-442F-007691B0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2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25E7-3705-2A29-DAA3-365C51F7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31E2A-F3AF-A0D5-909B-0DAFACE89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69149-5C73-3CE2-FAD2-F03A9B9E8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65466-8F36-8732-4722-B160772CB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1E803-88B5-0A4C-DF48-4AC89D85E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A5F40-BE48-4F23-26D6-A6661CC4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AAE1-4D62-D28F-849F-87000576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666F3-E98F-24AB-F7DA-610DDAB24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81406-796E-871F-E8A3-A7A95E409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41B2E-F732-91E2-C481-23D01491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1F997-AE50-8480-B0B3-0BFFD804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C0836-C097-DEB7-DCC2-39CE3E36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4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DCAC-FABC-8978-CE86-459D0561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378D0-6531-8949-A89F-25D215732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1F0DE-D51A-0928-3AEF-69785190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DB12-8D39-5ECA-DF56-B2B2E37F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7A788-D13A-34D9-EF1A-E825A7DA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3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AD5C9-B101-16B5-8A89-7883CF429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36FAE-B456-3C25-10F2-A311FED43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5A4ED-A86D-A868-DB18-CB15FBD8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0D090-7EC2-701D-8587-FE758700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3C3A8-7369-776D-9126-F6F17653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655B-DEA9-2673-CA3F-662E3D57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C9433-B5B5-D045-19DA-8D691F9DB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6EFE4-AD27-8CB8-71F0-FEC0FD5C3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3785D-CF44-4C84-83AB-F05EF1EA767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B1897-28B8-6960-D6FB-C845390D8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403A9-D47C-5AD0-1622-D8776D1C9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80056-93D6-44CD-BB1A-CE137FA6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1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EC72F1-4315-9A6E-E7BA-E6CA3D16F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52" y="880377"/>
            <a:ext cx="5360895" cy="5097245"/>
          </a:xfrm>
          <a:prstGeom prst="rect">
            <a:avLst/>
          </a:prstGeom>
        </p:spPr>
      </p:pic>
      <p:sp>
        <p:nvSpPr>
          <p:cNvPr id="8" name="矩形 86">
            <a:extLst>
              <a:ext uri="{FF2B5EF4-FFF2-40B4-BE49-F238E27FC236}">
                <a16:creationId xmlns:a16="http://schemas.microsoft.com/office/drawing/2014/main" id="{74DE3E90-E34C-6D3B-B2E9-1481A7A3C063}"/>
              </a:ext>
            </a:extLst>
          </p:cNvPr>
          <p:cNvSpPr/>
          <p:nvPr/>
        </p:nvSpPr>
        <p:spPr>
          <a:xfrm>
            <a:off x="33861" y="60800"/>
            <a:ext cx="9073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3765">
              <a:defRPr/>
            </a:pPr>
            <a:r>
              <a:rPr lang="en-US" altLang="zh-CN" b="1" dirty="0">
                <a:solidFill>
                  <a:prstClr val="black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Smart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Inspection IPCAM</a:t>
            </a:r>
            <a:endParaRPr lang="en-US" b="1" dirty="0">
              <a:solidFill>
                <a:prstClr val="black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7E79F-B16C-32B2-57AA-B83EC00C86A1}"/>
              </a:ext>
            </a:extLst>
          </p:cNvPr>
          <p:cNvSpPr txBox="1"/>
          <p:nvPr/>
        </p:nvSpPr>
        <p:spPr>
          <a:xfrm>
            <a:off x="4204446" y="6243201"/>
            <a:ext cx="403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AI-Driven Edge Vision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B65E2-15C7-BBD3-1CE2-BEDA610E737F}"/>
              </a:ext>
            </a:extLst>
          </p:cNvPr>
          <p:cNvSpPr/>
          <p:nvPr/>
        </p:nvSpPr>
        <p:spPr>
          <a:xfrm>
            <a:off x="3415552" y="880377"/>
            <a:ext cx="5360894" cy="171042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5BE26-964A-2683-CAAF-9084E63A8B9E}"/>
              </a:ext>
            </a:extLst>
          </p:cNvPr>
          <p:cNvSpPr/>
          <p:nvPr/>
        </p:nvSpPr>
        <p:spPr>
          <a:xfrm>
            <a:off x="4096869" y="2897436"/>
            <a:ext cx="4249272" cy="171042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8A9C9-85FD-87FC-E933-9653AE415283}"/>
              </a:ext>
            </a:extLst>
          </p:cNvPr>
          <p:cNvSpPr/>
          <p:nvPr/>
        </p:nvSpPr>
        <p:spPr>
          <a:xfrm>
            <a:off x="4007222" y="4717443"/>
            <a:ext cx="3424519" cy="126017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5E00C0-EEDA-D087-DE4E-B091B56D21A4}"/>
              </a:ext>
            </a:extLst>
          </p:cNvPr>
          <p:cNvSpPr txBox="1"/>
          <p:nvPr/>
        </p:nvSpPr>
        <p:spPr>
          <a:xfrm>
            <a:off x="421341" y="1000483"/>
            <a:ext cx="28776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AI-Driven Edge Vision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Infrastructure: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6 High-Definition IP Cameras connected via a high-speed Network Switch.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Edge Computing: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Performs </a:t>
            </a: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On-device Inference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(Object detection, facial recognition, or behavior analysis) directly at the source.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Key Benefit: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Reduces latency and saves bandwidth by processing heavy video data locally.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D28638-F06F-8223-FE65-0C4A1919D5CE}"/>
              </a:ext>
            </a:extLst>
          </p:cNvPr>
          <p:cNvSpPr txBox="1"/>
          <p:nvPr/>
        </p:nvSpPr>
        <p:spPr>
          <a:xfrm>
            <a:off x="9027458" y="2620437"/>
            <a:ext cx="3092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Cloud/Server Management (Centralized Logic)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Web System: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Acts as the central hub for the entire ecosystem.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Data Flow: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Receives Real-time Web Streams and Event Logs (metadata) from the Edge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Functions: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Handles data storage, user authentication, and system-wide configurations.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8D4862-467E-DA1B-5A75-8872204D60C1}"/>
              </a:ext>
            </a:extLst>
          </p:cNvPr>
          <p:cNvSpPr txBox="1"/>
          <p:nvPr/>
        </p:nvSpPr>
        <p:spPr>
          <a:xfrm>
            <a:off x="421341" y="4700193"/>
            <a:ext cx="3487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AI-Driven Edge Vision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 Client: A cross-platform dashboard accessible via any modern browser.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User Experience: Provides live monitoring, instant AI alerts, and historical log retrieval for end-users on multiple monitors.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EAADF4-47DC-1B51-5150-A703C6022CA0}"/>
              </a:ext>
            </a:extLst>
          </p:cNvPr>
          <p:cNvSpPr txBox="1"/>
          <p:nvPr/>
        </p:nvSpPr>
        <p:spPr>
          <a:xfrm>
            <a:off x="3606926" y="9574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62B22-8437-C53D-D5C8-4CE13463BEF2}"/>
              </a:ext>
            </a:extLst>
          </p:cNvPr>
          <p:cNvSpPr txBox="1"/>
          <p:nvPr/>
        </p:nvSpPr>
        <p:spPr>
          <a:xfrm>
            <a:off x="4096869" y="2906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1130FC-22C1-EBFB-3796-E981AB700AD9}"/>
              </a:ext>
            </a:extLst>
          </p:cNvPr>
          <p:cNvSpPr txBox="1"/>
          <p:nvPr/>
        </p:nvSpPr>
        <p:spPr>
          <a:xfrm>
            <a:off x="4075825" y="55925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0048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C08A3E-CEBF-38F1-2C1A-797F7990B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31242"/>
              </p:ext>
            </p:extLst>
          </p:nvPr>
        </p:nvGraphicFramePr>
        <p:xfrm>
          <a:off x="461681" y="1283070"/>
          <a:ext cx="11057965" cy="4054136"/>
        </p:xfrm>
        <a:graphic>
          <a:graphicData uri="http://schemas.openxmlformats.org/drawingml/2006/table">
            <a:tbl>
              <a:tblPr/>
              <a:tblGrid>
                <a:gridCol w="107856">
                  <a:extLst>
                    <a:ext uri="{9D8B030D-6E8A-4147-A177-3AD203B41FA5}">
                      <a16:colId xmlns:a16="http://schemas.microsoft.com/office/drawing/2014/main" val="3292537377"/>
                    </a:ext>
                  </a:extLst>
                </a:gridCol>
                <a:gridCol w="3160189">
                  <a:extLst>
                    <a:ext uri="{9D8B030D-6E8A-4147-A177-3AD203B41FA5}">
                      <a16:colId xmlns:a16="http://schemas.microsoft.com/office/drawing/2014/main" val="641055235"/>
                    </a:ext>
                  </a:extLst>
                </a:gridCol>
                <a:gridCol w="1747271">
                  <a:extLst>
                    <a:ext uri="{9D8B030D-6E8A-4147-A177-3AD203B41FA5}">
                      <a16:colId xmlns:a16="http://schemas.microsoft.com/office/drawing/2014/main" val="2862526537"/>
                    </a:ext>
                  </a:extLst>
                </a:gridCol>
                <a:gridCol w="2318910">
                  <a:extLst>
                    <a:ext uri="{9D8B030D-6E8A-4147-A177-3AD203B41FA5}">
                      <a16:colId xmlns:a16="http://schemas.microsoft.com/office/drawing/2014/main" val="1655220911"/>
                    </a:ext>
                  </a:extLst>
                </a:gridCol>
                <a:gridCol w="1900966">
                  <a:extLst>
                    <a:ext uri="{9D8B030D-6E8A-4147-A177-3AD203B41FA5}">
                      <a16:colId xmlns:a16="http://schemas.microsoft.com/office/drawing/2014/main" val="4047317777"/>
                    </a:ext>
                  </a:extLst>
                </a:gridCol>
                <a:gridCol w="927565">
                  <a:extLst>
                    <a:ext uri="{9D8B030D-6E8A-4147-A177-3AD203B41FA5}">
                      <a16:colId xmlns:a16="http://schemas.microsoft.com/office/drawing/2014/main" val="308242656"/>
                    </a:ext>
                  </a:extLst>
                </a:gridCol>
                <a:gridCol w="895208">
                  <a:extLst>
                    <a:ext uri="{9D8B030D-6E8A-4147-A177-3AD203B41FA5}">
                      <a16:colId xmlns:a16="http://schemas.microsoft.com/office/drawing/2014/main" val="2588186476"/>
                    </a:ext>
                  </a:extLst>
                </a:gridCol>
              </a:tblGrid>
              <a:tr h="350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#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Spec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Number of cameras per edge computer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Qty of edge computer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Note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Price per unit (est.)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12665"/>
                  </a:ext>
                </a:extLst>
              </a:tr>
              <a:tr h="12015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Intel Core i7-14700F 20C/28T (2.1GHz Base / 5.4GHz Boost) or better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128GB DDR5 (2×64GB) 5600–6000MT/s Non-ECC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1TB M.2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NVMe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Gen4 SSD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4TB HDD 7200rpm SATA3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1Gbps Ethernet interface (Onboard LAN)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NVIDIA GeForce RTX 5060 TI (16GB GDDR7) or equivalent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 ~ 8 (Depend on number of features enabled)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 21 IP CAM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 Camera/Computer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Number of camera = 21/6 = 4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For IP CAMERA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45,000,000 VND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180,000,000 VNĐ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189664"/>
                  </a:ext>
                </a:extLst>
              </a:tr>
              <a:tr h="1079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AMD Ryzen 9 9900X3D 12C/24T (5.5GHz Boost) or better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128GB DDR5 (2×64GB) 5200–6000MT/s Non-ECC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1TB M.2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NVMe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Gen4 SSD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4TB HDD 7200rpm SATA3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1Gbps Ethernet interface (Onboard LAN)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NVIDIA GeForce RTX 5090/4090 (32GB GDDR7) or equivalent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 ~ 8 (Depend on number of features enabled)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 10 360 deg CAM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 Camera/Computer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Number of camera = 10/6 = 2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For 360 deg CAMERA, (360 CAMERA need higher quality AI model so it needs better GPU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150,000,000 VNĐ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300,000,000 VNĐ</a:t>
                      </a:r>
                    </a:p>
                  </a:txBody>
                  <a:tcPr marL="7694" marR="7694" marT="7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110627"/>
                  </a:ext>
                </a:extLst>
              </a:tr>
              <a:tr h="200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94" marR="7694" marT="7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94" marR="7694" marT="7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94" marR="7694" marT="7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94" marR="7694" marT="7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94" marR="7694" marT="7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94" marR="7694" marT="769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480,000,000 VNĐ</a:t>
                      </a:r>
                    </a:p>
                  </a:txBody>
                  <a:tcPr marL="7694" marR="7694" marT="7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822116"/>
                  </a:ext>
                </a:extLst>
              </a:tr>
            </a:tbl>
          </a:graphicData>
        </a:graphic>
      </p:graphicFrame>
      <p:sp>
        <p:nvSpPr>
          <p:cNvPr id="6" name="矩形 86">
            <a:extLst>
              <a:ext uri="{FF2B5EF4-FFF2-40B4-BE49-F238E27FC236}">
                <a16:creationId xmlns:a16="http://schemas.microsoft.com/office/drawing/2014/main" id="{FC4FC064-3C7C-7DF7-47BE-CB900E5D51A8}"/>
              </a:ext>
            </a:extLst>
          </p:cNvPr>
          <p:cNvSpPr/>
          <p:nvPr/>
        </p:nvSpPr>
        <p:spPr>
          <a:xfrm>
            <a:off x="33861" y="60800"/>
            <a:ext cx="9073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3765">
              <a:defRPr/>
            </a:pPr>
            <a:r>
              <a:rPr lang="en-US" altLang="zh-CN" b="1" dirty="0">
                <a:solidFill>
                  <a:prstClr val="black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Smart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Inspection IPCAM</a:t>
            </a:r>
            <a:endParaRPr lang="en-US" b="1" dirty="0">
              <a:solidFill>
                <a:prstClr val="black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D763C-F9B7-26B9-EBBD-EA675E9CCF83}"/>
              </a:ext>
            </a:extLst>
          </p:cNvPr>
          <p:cNvSpPr txBox="1"/>
          <p:nvPr/>
        </p:nvSpPr>
        <p:spPr>
          <a:xfrm>
            <a:off x="4789712" y="762000"/>
            <a:ext cx="2612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Hardware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requirments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418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391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Microsoft JhengHei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2026-01-20T04:19:03Z</dcterms:created>
  <dcterms:modified xsi:type="dcterms:W3CDTF">2026-01-20T06:08:37Z</dcterms:modified>
</cp:coreProperties>
</file>